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83" r:id="rId2"/>
    <p:sldId id="257" r:id="rId3"/>
    <p:sldId id="282" r:id="rId4"/>
    <p:sldId id="285" r:id="rId5"/>
    <p:sldId id="278" r:id="rId6"/>
    <p:sldId id="281" r:id="rId7"/>
    <p:sldId id="290" r:id="rId8"/>
    <p:sldId id="262" r:id="rId9"/>
    <p:sldId id="264" r:id="rId10"/>
    <p:sldId id="277" r:id="rId11"/>
    <p:sldId id="286" r:id="rId12"/>
    <p:sldId id="287" r:id="rId13"/>
    <p:sldId id="280" r:id="rId14"/>
    <p:sldId id="288" r:id="rId15"/>
    <p:sldId id="289" r:id="rId16"/>
    <p:sldId id="276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DCDCB8-E336-06C9-9BC1-C212CD122CD0}" v="1" dt="2026-06-23T04:41:50.196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4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anmai-Thakre/Kisansetu-ai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</a:t>
            </a:r>
            <a:r>
              <a:rPr lang="en-US" b="1" i="1" dirty="0" err="1"/>
              <a:t>LangFlow</a:t>
            </a:r>
            <a:r>
              <a:rPr lang="en-US" b="1" i="1" dirty="0"/>
              <a:t>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445416127"/>
              </p:ext>
            </p:extLst>
          </p:nvPr>
        </p:nvGraphicFramePr>
        <p:xfrm>
          <a:off x="1299257" y="2600315"/>
          <a:ext cx="957295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1039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96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96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896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r>
                        <a:rPr lang="en-IN" dirty="0"/>
                        <a:t>Tanmai Thakre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tanmaithakre</a:t>
                      </a:r>
                      <a:r>
                        <a:rPr dirty="0"/>
                        <a:t>@gmail.com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9099660305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Agriculture (</a:t>
            </a:r>
            <a:r>
              <a:rPr lang="en-US" sz="2400" b="1" dirty="0" err="1"/>
              <a:t>AgriTech</a:t>
            </a:r>
            <a:r>
              <a:rPr lang="en-US" sz="2400" b="1" dirty="0"/>
              <a:t> – Market Linkage for Farmers)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Project Tile – </a:t>
            </a:r>
            <a:r>
              <a:rPr lang="en-US" sz="24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KisanSetu AI</a:t>
            </a:r>
            <a:endParaRPr lang="en-IN" sz="2400" b="1">
              <a:highlight>
                <a:srgbClr val="FFFF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93B78C-5B7F-305F-EDDA-B9C9E21A4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3947" y="3612809"/>
            <a:ext cx="865073" cy="115463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/>
              <a:t>Problem Statement : KisanSetu AI</a:t>
            </a:r>
            <a:r>
              <a:rPr lang="en-US"/>
              <a:t> </a:t>
            </a:r>
          </a:p>
          <a:p>
            <a:pPr fontAlgn="base"/>
            <a:endParaRPr lang="en-US" b="1"/>
          </a:p>
          <a:p>
            <a:pPr fontAlgn="base"/>
            <a:r>
              <a:rPr lang="en-US" b="1"/>
              <a:t>The Challenge</a:t>
            </a:r>
            <a:r>
              <a:rPr lang="en-US"/>
              <a:t> </a:t>
            </a:r>
          </a:p>
          <a:p>
            <a:pPr fontAlgn="base"/>
            <a:r>
              <a:rPr lang="en-US"/>
              <a:t>Gujarat cotton and groundnut farmers often struggle with </a:t>
            </a:r>
            <a:r>
              <a:rPr lang="en-US" b="1"/>
              <a:t>knowing the right time, price, and buyer to sell to</a:t>
            </a:r>
            <a:r>
              <a:rPr lang="en-US"/>
              <a:t>. Mandi prices, buyer contacts, and quality benchmarks are scattered across unreliable sources and middlemen. Without </a:t>
            </a:r>
            <a:r>
              <a:rPr lang="en-US" b="1"/>
              <a:t>personalized, real-time market guidance</a:t>
            </a:r>
            <a:r>
              <a:rPr lang="en-US"/>
              <a:t>, many farmers end up selling at low prices or missing better opportunities. </a:t>
            </a:r>
          </a:p>
          <a:p>
            <a:pPr fontAlgn="base"/>
            <a:endParaRPr lang="en-US"/>
          </a:p>
          <a:p>
            <a:pPr fontAlgn="base"/>
            <a:r>
              <a:rPr lang="en-US" b="1"/>
              <a:t>The Objective</a:t>
            </a:r>
            <a:r>
              <a:rPr lang="en-US"/>
              <a:t> </a:t>
            </a:r>
          </a:p>
          <a:p>
            <a:pPr fontAlgn="base"/>
            <a:r>
              <a:rPr lang="en-US"/>
              <a:t>Build an </a:t>
            </a:r>
            <a:r>
              <a:rPr lang="en-US" b="1"/>
              <a:t>AI-powered market linkage platform, KisanSetu AI,</a:t>
            </a:r>
            <a:r>
              <a:rPr lang="en-US"/>
              <a:t> that delivers </a:t>
            </a:r>
            <a:r>
              <a:rPr lang="en-US" b="1"/>
              <a:t>personalized, real-time market intelligence</a:t>
            </a:r>
            <a:r>
              <a:rPr lang="en-US"/>
              <a:t> for cotton and groundnut farmers in Gujarat. The solution should: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/>
              <a:t>Mandi Price Forecasting</a:t>
            </a:r>
            <a:r>
              <a:rPr lang="en-US"/>
              <a:t> – Predict cotton and groundnut prices for the next 15 days using historical mandi data.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/>
              <a:t>Buyer Matching</a:t>
            </a:r>
            <a:r>
              <a:rPr lang="en-US"/>
              <a:t> – Identify and connect farmers with the best-fit buyers based on price, location, and quantity.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/>
              <a:t>Storage vs. Sell Advisory</a:t>
            </a:r>
            <a:r>
              <a:rPr lang="en-US"/>
              <a:t> – Recommend whether to sell now or store, weighing forecasted price trends against storage cost and risk.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/>
              <a:t>Quality Grading</a:t>
            </a:r>
            <a:r>
              <a:rPr lang="en-US"/>
              <a:t> – Assess produce quality to support fair, evidence-based pricing.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/>
              <a:t>Multi-Agent System</a:t>
            </a:r>
            <a:r>
              <a:rPr lang="en-US"/>
              <a:t> –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/>
              <a:t>Mandi Forecast Agent</a:t>
            </a:r>
            <a:r>
              <a:rPr lang="en-US"/>
              <a:t> (predicts market prices)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/>
              <a:t>Buyer Matching Agent</a:t>
            </a:r>
            <a:r>
              <a:rPr lang="en-US"/>
              <a:t> (finds the best buyer)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/>
              <a:t>Storage Advisor Agent</a:t>
            </a:r>
            <a:r>
              <a:rPr lang="en-US"/>
              <a:t> (sell-or-store guidance)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/>
              <a:t>Quality Grading Agent</a:t>
            </a:r>
            <a:r>
              <a:rPr lang="en-US"/>
              <a:t> (produce quality assessment)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/>
              <a:t>Income Dashboard Agent</a:t>
            </a:r>
            <a:r>
              <a:rPr lang="en-US"/>
              <a:t> – Calculates expected net income and shows LIVE / DEMO / ESTIMATE data-source badges for transparency. </a:t>
            </a:r>
          </a:p>
          <a:p>
            <a:pPr fontAlgn="base"/>
            <a:endParaRPr lang="en-US"/>
          </a:p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Problem Statement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/>
          </a:p>
          <a:p>
            <a:r>
              <a:rPr lang="en-US" b="1"/>
              <a:t>Proposed Solution: KisanSetu AI</a:t>
            </a:r>
          </a:p>
          <a:p>
            <a:r>
              <a:rPr lang="en-US"/>
              <a:t>The proposed solution is a </a:t>
            </a:r>
            <a:r>
              <a:rPr lang="en-US" b="1"/>
              <a:t>multi-agent AI-powered market linkage platform</a:t>
            </a:r>
            <a:r>
              <a:rPr lang="en-US"/>
              <a:t> built using </a:t>
            </a:r>
            <a:r>
              <a:rPr lang="en-US" b="1" err="1"/>
              <a:t>a custom Agent Orchestrator (FastAPI)</a:t>
            </a:r>
            <a:r>
              <a:rPr lang="en-US" b="1"/>
              <a:t> integrated with IBM watsonx.ai and Granite models</a:t>
            </a:r>
            <a:r>
              <a:rPr lang="en-US"/>
              <a:t> to provide personalized, real-time selling guidance to Gujarat cotton and groundnut farmers. The system addresses price uncertainty, buyer discovery, and storage decisions through an intelligent, modular architecture.</a:t>
            </a:r>
          </a:p>
          <a:p>
            <a:r>
              <a:rPr lang="en-US"/>
              <a:t>At its core, the solution uses an </a:t>
            </a:r>
            <a:r>
              <a:rPr lang="en-US" b="1"/>
              <a:t>Agent Orchestrator with intent classification</a:t>
            </a:r>
            <a:r>
              <a:rPr lang="en-US"/>
              <a:t> to route each farmer question to the right specialised agents. The structured JSON results from those agents are then passed to IBM Granite, which never invents numbers — it only explains data that the deterministic agents have already computed.</a:t>
            </a:r>
          </a:p>
          <a:p>
            <a:r>
              <a:rPr lang="en-US"/>
              <a:t>The system consists of four core specialist agents:</a:t>
            </a:r>
          </a:p>
          <a:p>
            <a:r>
              <a:rPr lang="en-US" b="1"/>
              <a:t>Mandi Forecast Agent</a:t>
            </a:r>
            <a:r>
              <a:rPr lang="en-US"/>
              <a:t> predicts cotton and groundnut prices for the next 15 days using historical trends. </a:t>
            </a:r>
          </a:p>
          <a:p>
            <a:r>
              <a:rPr lang="en-US" b="1"/>
              <a:t>Buyer Matching Agent</a:t>
            </a:r>
            <a:r>
              <a:rPr lang="en-US"/>
              <a:t> finds and ranks the best buyers for a farmer’s crop based on price, location, and quantity. </a:t>
            </a:r>
          </a:p>
          <a:p>
            <a:r>
              <a:rPr lang="en-US" b="1"/>
              <a:t>Storage Advisor Agent</a:t>
            </a:r>
            <a:r>
              <a:rPr lang="en-US"/>
              <a:t> recommends whether to sell immediately or store the crop, weighing forecasted price movement against storage cost and risk. </a:t>
            </a:r>
          </a:p>
          <a:p>
            <a:r>
              <a:rPr lang="en-US" b="1"/>
              <a:t>Quality Grading Agent</a:t>
            </a:r>
            <a:r>
              <a:rPr lang="en-US"/>
              <a:t> assesses produce quality to support fair, evidence-based pricing. </a:t>
            </a:r>
          </a:p>
          <a:p>
            <a:r>
              <a:rPr lang="en-US"/>
              <a:t>The solution also includes an </a:t>
            </a:r>
            <a:r>
              <a:rPr lang="en-US" b="1"/>
              <a:t>Income Dashboard Agent</a:t>
            </a:r>
            <a:r>
              <a:rPr lang="en-US"/>
              <a:t> (backed by a </a:t>
            </a:r>
            <a:r>
              <a:rPr lang="en-US" err="1"/>
              <a:t>Next.js 15</a:t>
            </a:r>
            <a:r>
              <a:rPr lang="en-US"/>
              <a:t> farmer dashboard) that calculates expected net income, risk level, and confidence, and tracks progress toward a farmer’s income goals.</a:t>
            </a:r>
          </a:p>
          <a:p>
            <a:r>
              <a:rPr lang="en-US" err="1"/>
              <a:t>The Agent Orchestrator</a:t>
            </a:r>
            <a:r>
              <a:rPr lang="en-US"/>
              <a:t> coordinates all five agents based on intent classification, while watsonx.ai ensures scalable model deployment and AI governance. Granite models power reasoning and multilingual synthesis — but never generate prices, buyers, or income figures themselves.</a:t>
            </a:r>
          </a:p>
          <a:p>
            <a:r>
              <a:rPr lang="en-US"/>
              <a:t>Overall, this solution delivers an </a:t>
            </a:r>
            <a:r>
              <a:rPr lang="en-US" b="1"/>
              <a:t>end-to-end intelligent market linkage assistant</a:t>
            </a:r>
            <a:r>
              <a:rPr lang="en-US"/>
              <a:t> that helps farmers get fairer prices through personalized, grounded insights, real-time forecasts, and transparent decision support.</a:t>
            </a:r>
          </a:p>
          <a:p>
            <a:pPr fontAlgn="base"/>
            <a:endParaRPr lang="en-US"/>
          </a:p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Proposed Solution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/>
              <a:t>Technology Used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55092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 err="1"/>
              <a:t>Next.js 15 &amp; FastAPI</a:t>
            </a:r>
            <a:r>
              <a:rPr lang="en-US" sz="1800" b="1" dirty="0"/>
              <a:t> stack </a:t>
            </a:r>
            <a:r>
              <a:rPr lang="en-US" sz="1800" dirty="0"/>
              <a:t>- Farmer dashboard (Next.js, React, Tailwind) with a Python FastAPI Agent Orchestrator backend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Granite model </a:t>
            </a:r>
            <a:r>
              <a:rPr lang="en-US" sz="1800" dirty="0"/>
              <a:t>-  </a:t>
            </a:r>
            <a:r>
              <a:rPr lang="en-US" sz="1800" dirty="0" err="1"/>
              <a:t>ibm-granite-3-8b-instruct</a:t>
            </a:r>
            <a:r>
              <a:rPr lang="en-US" sz="1800" dirty="0"/>
              <a:t> via watsonx.ai – For intent classification, multilingual answer synthesis, and reasoning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/>
              <a:t>IBM Cloud </a:t>
            </a:r>
            <a:r>
              <a:rPr lang="en-US" sz="1800"/>
              <a:t>– Provides the infrastructure (IBM Cloud Code Engine) to build, deploy, and scale KisanSetu AI efficiently. It enables a </a:t>
            </a:r>
            <a:r>
              <a:rPr lang="en-US" sz="1800" b="1"/>
              <a:t>reliable, secure, and scalable environment</a:t>
            </a:r>
            <a:r>
              <a:rPr lang="en-US" sz="1800"/>
              <a:t> for serving farmers across Gujarat.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/>
              <a:t>Grounded synthesis– </a:t>
            </a:r>
            <a:r>
              <a:rPr lang="en-US" sz="1800"/>
              <a:t>Structured JSON from the deterministic agents is </a:t>
            </a:r>
            <a:r>
              <a:rPr lang="en-US" sz="1800" b="1"/>
              <a:t>fetched first, then Granite generates the farmer-facing answer</a:t>
            </a:r>
            <a:r>
              <a:rPr lang="en-US" sz="1800"/>
              <a:t>, so KisanSetu AI never invents prices, buyers, or income figures.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/>
              <a:t>IBM Watsonx.ai - </a:t>
            </a:r>
            <a:r>
              <a:rPr lang="en-US" sz="1800"/>
              <a:t>For model deployment, prompt orchestration, and AI governance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/>
              <a:t>Database </a:t>
            </a:r>
            <a:r>
              <a:rPr lang="en-IN" sz="1800"/>
              <a:t>(SQLite for dev / PostgreSQL for production) – Stores mandi prices, buyer records, and farmer profiles used to ground every agent response</a:t>
            </a: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endParaRPr lang="en-US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err="1">
                <a:sym typeface="Times New Roman"/>
              </a:rPr>
              <a:t>System</a:t>
            </a: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>
                <a:sym typeface="Times New Roman"/>
              </a:rPr>
              <a:t>Components Used -</a:t>
            </a:r>
            <a:endParaRPr sz="2400" b="1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863187"/>
            <a:ext cx="882396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  <a:p>
            <a:r>
              <a:rPr lang="en-US" b="1"/>
              <a:t>1) AI Chat Widget </a:t>
            </a:r>
            <a:r>
              <a:rPr lang="en-US"/>
              <a:t>– Farmer-facing interface where users type questions in English, Gujarati, or Hindi (e.g. crop, mandi, quantity).</a:t>
            </a:r>
          </a:p>
          <a:p>
            <a:endParaRPr lang="en-US"/>
          </a:p>
          <a:p>
            <a:r>
              <a:rPr lang="en-US" b="1"/>
              <a:t>2) IBM </a:t>
            </a:r>
            <a:r>
              <a:rPr lang="en-US" b="1" err="1"/>
              <a:t>watsonx</a:t>
            </a:r>
            <a:r>
              <a:rPr lang="en-US" b="1"/>
              <a:t> Granite Client </a:t>
            </a:r>
            <a:r>
              <a:rPr lang="en-US"/>
              <a:t>- Handles IAM authentication and calls Granite models to synthesize a grounded, farmer-friendly answer. </a:t>
            </a:r>
          </a:p>
          <a:p>
            <a:endParaRPr lang="en-US"/>
          </a:p>
          <a:p>
            <a:r>
              <a:rPr lang="en-US" b="1"/>
              <a:t>3) Name of IBM Granite model - </a:t>
            </a:r>
            <a:r>
              <a:rPr lang="en-US"/>
              <a:t>ibm/granite-3-8b-instruct → Fast, efficient for real-time market analysis and multilingual synthesis</a:t>
            </a:r>
          </a:p>
          <a:p>
            <a:endParaRPr lang="en-US"/>
          </a:p>
          <a:p>
            <a:r>
              <a:rPr lang="en-US" b="1"/>
              <a:t>4) Chat output -</a:t>
            </a:r>
            <a:r>
              <a:rPr lang="en-US"/>
              <a:t>Displays the farmer-friendly answer with price forecast, best buyer, sell/store advice, and expected income. </a:t>
            </a:r>
          </a:p>
          <a:p>
            <a:endParaRPr lang="en-US"/>
          </a:p>
          <a:p>
            <a:r>
              <a:rPr lang="en-US" b="1"/>
              <a:t>5) Agent Orchestrator - </a:t>
            </a:r>
            <a:r>
              <a:rPr lang="en-US"/>
              <a:t>Classifies intent and invokes the Mandi Forecast, Buyer Matching, Storage Advisor, Quality Grading, and Income Dashboard agents.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6) SQLite / PostgreSQL database - stores market prices, buyer records, and farmer profiles used to ground every response.</a:t>
            </a:r>
          </a:p>
          <a:p>
            <a:pPr marL="342900" indent="-342900">
              <a:buAutoNum type="arabicParenR" startAt="3"/>
            </a:pP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 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30F0C4-EE67-022A-8747-96F2D2F701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4930"/>
            <a:ext cx="12192000" cy="670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159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</a:t>
            </a:r>
            <a:endParaRPr lang="en-US" sz="2400"/>
          </a:p>
        </p:txBody>
      </p:sp>
      <p:pic>
        <p:nvPicPr>
          <p:cNvPr id="3" name="Picture 2" descr="architectur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570" y="675732"/>
            <a:ext cx="11468100" cy="61817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Role of Agentic AI in the solution </a:t>
            </a:r>
            <a:endParaRPr lang="en-IN" sz="32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Role of Agentic AI in KisanSetu AI</a:t>
            </a:r>
          </a:p>
          <a:p>
            <a:r>
              <a:rPr lang="en-US" b="1"/>
              <a:t>Agentic AI</a:t>
            </a:r>
            <a:r>
              <a:rPr lang="en-US"/>
              <a:t> enables KisanSetu AI to function as an intelligent, autonomous system rather than a simple price lookup tool. Using </a:t>
            </a:r>
            <a:r>
              <a:rPr lang="en-US" b="1"/>
              <a:t>IBM watsonx.ai</a:t>
            </a:r>
            <a:r>
              <a:rPr lang="en-US"/>
              <a:t> and </a:t>
            </a:r>
            <a:r>
              <a:rPr lang="en-US" b="1"/>
              <a:t>IBM Granite models</a:t>
            </a:r>
            <a:r>
              <a:rPr lang="en-US"/>
              <a:t>, it coordinates five specialized agents to deliver grounded, personalized market guidance.</a:t>
            </a:r>
          </a:p>
          <a:p>
            <a:r>
              <a:rPr lang="en-US"/>
              <a:t>Each agent performs a specific role—such as forecasting mandi prices, matching buyers, advising on storage, grading quality, and calculating income—while working collaboratively. This </a:t>
            </a:r>
            <a:r>
              <a:rPr lang="en-US" b="1"/>
              <a:t>multi-agent approach</a:t>
            </a:r>
            <a:r>
              <a:rPr lang="en-US"/>
              <a:t> ensures efficient task execution and accurate, grounded results.</a:t>
            </a:r>
          </a:p>
          <a:p>
            <a:r>
              <a:rPr lang="en-US"/>
              <a:t>Agentic AI also brings </a:t>
            </a:r>
            <a:r>
              <a:rPr lang="en-US" b="1"/>
              <a:t>context awareness</a:t>
            </a:r>
            <a:r>
              <a:rPr lang="en-US"/>
              <a:t>, understanding a farmer’s crop, mandi, and quantity to generate tailored recommendations. It supports </a:t>
            </a:r>
            <a:r>
              <a:rPr lang="en-US" b="1"/>
              <a:t>real-time adaptation</a:t>
            </a:r>
            <a:r>
              <a:rPr lang="en-US"/>
              <a:t>, continuously updating advice as market conditions and user inputs change.</a:t>
            </a:r>
          </a:p>
          <a:p>
            <a:r>
              <a:rPr lang="en-US"/>
              <a:t>Additionally, agents communicate with each other, enabling better decision-making and improved outcomes.</a:t>
            </a:r>
          </a:p>
          <a:p>
            <a:r>
              <a:rPr lang="en-US"/>
              <a:t>Overall, Agentic AI makes the system proactive, personalized, and goal-driven, acting like a </a:t>
            </a:r>
            <a:r>
              <a:rPr lang="en-US" b="1"/>
              <a:t>trusted digital market advisor</a:t>
            </a:r>
            <a:r>
              <a:rPr lang="en-US"/>
              <a:t> that helps farmers earn a fairer price for their crop.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Token Usage 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576A0-BF64-32B6-1E59-49AA2C59C5CE}"/>
              </a:ext>
            </a:extLst>
          </p:cNvPr>
          <p:cNvSpPr txBox="1"/>
          <p:nvPr/>
        </p:nvSpPr>
        <p:spPr>
          <a:xfrm>
            <a:off x="897392" y="1042133"/>
            <a:ext cx="4371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IBM Bob AI usage: 100% quota available before → 4% remaining after building the project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8E599E-5B1D-59CD-4F1D-CEF8D0CA327B}"/>
              </a:ext>
            </a:extLst>
          </p:cNvPr>
          <p:cNvSpPr txBox="1"/>
          <p:nvPr/>
        </p:nvSpPr>
        <p:spPr>
          <a:xfrm>
            <a:off x="1278639" y="1718067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/>
              <a:t>Before Prompt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2EA981-5113-2D05-C1A2-169306E1D47C}"/>
              </a:ext>
            </a:extLst>
          </p:cNvPr>
          <p:cNvSpPr txBox="1"/>
          <p:nvPr/>
        </p:nvSpPr>
        <p:spPr>
          <a:xfrm>
            <a:off x="7106828" y="1722919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/>
              <a:t>After the Prompt</a:t>
            </a:r>
          </a:p>
        </p:txBody>
      </p:sp>
      <p:pic>
        <p:nvPicPr>
          <p:cNvPr id="283" name="Picture 282" descr="Screenshot_2026-09-04_1151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40" y="2453592"/>
            <a:ext cx="5095875" cy="2857500"/>
          </a:xfrm>
          <a:prstGeom prst="rect">
            <a:avLst/>
          </a:prstGeom>
        </p:spPr>
      </p:pic>
      <p:pic>
        <p:nvPicPr>
          <p:cNvPr id="284" name="Picture 283" descr="WhatsApp_Image_2026-09-04_at_11_49_57_AM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9601" y="2451181"/>
            <a:ext cx="5724525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Novelty and Uniqueness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/>
              <a:t>KisanSetu AI stands out by combining </a:t>
            </a:r>
            <a:r>
              <a:rPr lang="en-IN" sz="1800" b="1"/>
              <a:t>multi-agent orchestration, grounded synthesis, and multilingual delivery</a:t>
            </a:r>
            <a:r>
              <a:rPr lang="en-IN" sz="1800"/>
              <a:t> into a single trustworthy platform.</a:t>
            </a:r>
          </a:p>
          <a:p>
            <a:endParaRPr lang="en-IN" sz="1800"/>
          </a:p>
          <a:p>
            <a:r>
              <a:rPr lang="en-IN" sz="1800" b="1"/>
              <a:t>Multi-Agent Intelligence</a:t>
            </a:r>
            <a:r>
              <a:rPr lang="en-IN" sz="1800"/>
              <a:t> – Instead of a single chatbot, five specialized agents collaborate to deliver accurate, context-aware market guidance. </a:t>
            </a:r>
          </a:p>
          <a:p>
            <a:r>
              <a:rPr lang="en-IN" sz="1800" b="1"/>
              <a:t>Grounded, Data-First Accuracy</a:t>
            </a:r>
            <a:r>
              <a:rPr lang="en-IN" sz="1800"/>
              <a:t> – Granite only explains numbers the deterministic agents already computed, eliminating hallucinated prices or buyers. </a:t>
            </a:r>
          </a:p>
          <a:p>
            <a:r>
              <a:rPr lang="en-IN" sz="1800" b="1"/>
              <a:t>Hyper-Personalization</a:t>
            </a:r>
            <a:r>
              <a:rPr lang="en-IN" sz="1800"/>
              <a:t> – Tailors advice to each farmer’s crop, mandi, quantity, and language preference. </a:t>
            </a:r>
          </a:p>
          <a:p>
            <a:r>
              <a:rPr lang="en-IN" sz="1800" b="1"/>
              <a:t>Transparent Data-Source Labelling</a:t>
            </a:r>
            <a:r>
              <a:rPr lang="en-IN" sz="1800"/>
              <a:t> – LIVE / DEMO / ESTIMATE badges show farmers exactly how reliable each number </a:t>
            </a:r>
            <a:r>
              <a:rPr lang="en-IN" sz="1800" err="1"/>
              <a:t>is</a:t>
            </a:r>
            <a:r>
              <a:rPr lang="en-IN" sz="1800"/>
              <a:t>. </a:t>
            </a:r>
          </a:p>
          <a:p>
            <a:r>
              <a:rPr lang="en-IN" sz="1800" b="1"/>
              <a:t>Multilingual Access</a:t>
            </a:r>
            <a:r>
              <a:rPr lang="en-IN" sz="1800"/>
              <a:t> – Full support for English, Gujarati, and Hindi, so language is never a barrier to good advice. </a:t>
            </a:r>
          </a:p>
          <a:p>
            <a:r>
              <a:rPr lang="en-IN" sz="1800" b="1"/>
              <a:t>Responsible AI by Design</a:t>
            </a:r>
            <a:r>
              <a:rPr lang="en-IN" sz="1800"/>
              <a:t> – No profit guarantees, transparent fallback mode, and agent-failure disclosure build farmer trust. </a:t>
            </a:r>
          </a:p>
          <a:p>
            <a:r>
              <a:rPr lang="en-IN" sz="1800" b="1"/>
              <a:t>Scalable &amp; Enterprise-Ready</a:t>
            </a:r>
            <a:r>
              <a:rPr lang="en-IN" sz="1800"/>
              <a:t> – Built on </a:t>
            </a:r>
            <a:r>
              <a:rPr lang="en-IN" sz="1800" b="1"/>
              <a:t>IBM watsonx.ai</a:t>
            </a:r>
            <a:r>
              <a:rPr lang="en-IN" sz="1800"/>
              <a:t> with </a:t>
            </a:r>
            <a:r>
              <a:rPr lang="en-IN" sz="1800" b="1"/>
              <a:t>IBM Granite models</a:t>
            </a:r>
            <a:r>
              <a:rPr lang="en-IN" sz="1800"/>
              <a:t>, ensuring reliability and governance. </a:t>
            </a:r>
          </a:p>
          <a:p>
            <a:endParaRPr lang="en-IN" sz="1800"/>
          </a:p>
          <a:p>
            <a:r>
              <a:rPr lang="en-IN" sz="1800"/>
              <a:t>This makes the solution a </a:t>
            </a:r>
            <a:r>
              <a:rPr lang="en-IN" sz="1800" b="1"/>
              <a:t>smart, adaptive, and proactive digital market advisor</a:t>
            </a:r>
            <a:r>
              <a:rPr lang="en-IN" sz="1800"/>
              <a:t>, not just a static price lookup tool.</a:t>
            </a:r>
            <a:endParaRPr lang="en-US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create public </a:t>
            </a:r>
            <a:r>
              <a:rPr lang="en-US" sz="1850" b="0" i="0" u="none" strike="noStrike" cap="none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(Enable Add README  button while creating repository) with format – 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test and Paste the working  </a:t>
            </a: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URL – 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https://github.com/Tanmai-Thakre/Kisansetu-ai</a:t>
            </a: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05851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Future Scope 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1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Live Mandi Data Integration &amp; SMS/IVR Access –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Connecting KisanSetu AI to real-time AgMarkNet/eNAM price feeds and adding an SMS/IVR channel would let farmers without smartphones get price alerts and recommendations directly on any phone.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</a:t>
            </a:r>
            <a:r>
              <a:rPr lang="en-US" sz="1850" b="1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Voice Assistant &amp; Wider Crop Coverage </a:t>
            </a: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Adding a voice-enabled assistant for low-literacy users, and extending the platform beyond cotton and groundnut to other major Gujarat crops, would make KisanSetu AI a complete market-linkage solution for the state’s farmers.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638996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/>
              <a:t>IBM SkillsBuild credentials, earned on Credly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E480F3-C825-1514-0246-88AD05775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1885" y="2677000"/>
            <a:ext cx="3688927" cy="2754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CFB2902-7D5D-F508-B5D3-EDFF67DDA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949" y="2677000"/>
            <a:ext cx="3665476" cy="2754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F5A8FA6-76AD-478E-CE16-FFB9DDE883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2238" y="2677000"/>
            <a:ext cx="3707524" cy="27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47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Lab: Troubleshoot Your Code Using IBM Bob — IBM SkillsBuild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1B58B7-A18C-E0A0-86A3-E8B1C3DDD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334" y="1774659"/>
            <a:ext cx="7039331" cy="4979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610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1486</Words>
  <Application>Microsoft Office PowerPoint</Application>
  <PresentationFormat>Widescreen</PresentationFormat>
  <Paragraphs>122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Tanmai Shyam Thakre</cp:lastModifiedBy>
  <cp:revision>17</cp:revision>
  <dcterms:created xsi:type="dcterms:W3CDTF">2025-07-08T05:06:56Z</dcterms:created>
  <dcterms:modified xsi:type="dcterms:W3CDTF">2026-09-04T12:31:04Z</dcterms:modified>
</cp:coreProperties>
</file>